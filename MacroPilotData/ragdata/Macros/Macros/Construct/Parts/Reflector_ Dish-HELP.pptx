
<file path=[Content_Types].xml><?xml version="1.0" encoding="utf-8"?>
<Types xmlns="http://schemas.openxmlformats.org/package/2006/content-types"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4"/>
  </p:notesMasterIdLst>
  <p:handoutMasterIdLst>
    <p:handoutMasterId r:id="rId5"/>
  </p:handoutMasterIdLst>
  <p:sldIdLst>
    <p:sldId id="1888" r:id="rId2"/>
    <p:sldId id="1889" r:id="rId3"/>
  </p:sldIdLst>
  <p:sldSz cx="9144000" cy="6858000" type="screen4x3"/>
  <p:notesSz cx="6743700" cy="9047163"/>
  <p:defaultTextStyle>
    <a:defPPr>
      <a:defRPr lang="de-DE"/>
    </a:defPPr>
    <a:lvl1pPr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rebuchet MS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rebuchet MS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rebuchet MS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rebuchet MS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rebuchet MS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Trebuchet MS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Trebuchet MS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Trebuchet MS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Trebuchet MS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D1CF"/>
    <a:srgbClr val="00FFCC"/>
    <a:srgbClr val="66FFFF"/>
    <a:srgbClr val="66FFCC"/>
    <a:srgbClr val="00FFFF"/>
    <a:srgbClr val="FFFFCC"/>
    <a:srgbClr val="800080"/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23" autoAdjust="0"/>
    <p:restoredTop sz="92336" autoAdjust="0"/>
  </p:normalViewPr>
  <p:slideViewPr>
    <p:cSldViewPr snapToGrid="0">
      <p:cViewPr varScale="1">
        <p:scale>
          <a:sx n="119" d="100"/>
          <a:sy n="119" d="100"/>
        </p:scale>
        <p:origin x="-492" y="-108"/>
      </p:cViewPr>
      <p:guideLst>
        <p:guide orient="horz" pos="4319"/>
        <p:guide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1656" y="1080"/>
      </p:cViewPr>
      <p:guideLst>
        <p:guide orient="horz" pos="2850"/>
        <p:guide pos="2124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82550"/>
            <a:ext cx="630238" cy="254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none" lIns="85288" tIns="42643" rIns="85288" bIns="42643" numCol="1" anchor="ctr" anchorCtr="0" compatLnSpc="1">
            <a:prstTxWarp prst="textNoShape">
              <a:avLst/>
            </a:prstTxWarp>
            <a:spAutoFit/>
          </a:bodyPr>
          <a:lstStyle>
            <a:lvl1pPr algn="l" defTabSz="855663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6238875" y="82550"/>
            <a:ext cx="466725" cy="254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none" lIns="85288" tIns="42643" rIns="85288" bIns="42643" numCol="1" anchor="ctr" anchorCtr="0" compatLnSpc="1">
            <a:prstTxWarp prst="textNoShape">
              <a:avLst/>
            </a:prstTxWarp>
            <a:spAutoFit/>
          </a:bodyPr>
          <a:lstStyle>
            <a:lvl1pPr algn="r" defTabSz="855663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5388"/>
            <a:ext cx="574675" cy="254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none" lIns="85288" tIns="42643" rIns="85288" bIns="42643" numCol="1" anchor="b" anchorCtr="0" compatLnSpc="1">
            <a:prstTxWarp prst="textNoShape">
              <a:avLst/>
            </a:prstTxWarp>
            <a:spAutoFit/>
          </a:bodyPr>
          <a:lstStyle>
            <a:lvl1pPr algn="l" defTabSz="855663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6364288" y="8815388"/>
            <a:ext cx="341312" cy="254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none" lIns="85288" tIns="42643" rIns="85288" bIns="42643" numCol="1" anchor="b" anchorCtr="0" compatLnSpc="1">
            <a:prstTxWarp prst="textNoShape">
              <a:avLst/>
            </a:prstTxWarp>
            <a:spAutoFit/>
          </a:bodyPr>
          <a:lstStyle>
            <a:lvl1pPr algn="r" defTabSz="855663">
              <a:defRPr sz="1100">
                <a:latin typeface="Arial" charset="0"/>
              </a:defRPr>
            </a:lvl1pPr>
          </a:lstStyle>
          <a:p>
            <a:pPr>
              <a:defRPr/>
            </a:pPr>
            <a:fld id="{5775C558-ACD7-42DB-BA45-54B1A007CFD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80963"/>
            <a:ext cx="630238" cy="254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none" lIns="85288" tIns="42643" rIns="85288" bIns="42643" numCol="1" anchor="ctr" anchorCtr="0" compatLnSpc="1">
            <a:prstTxWarp prst="textNoShape">
              <a:avLst/>
            </a:prstTxWarp>
            <a:spAutoFit/>
          </a:bodyPr>
          <a:lstStyle>
            <a:lvl1pPr algn="l" defTabSz="855663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6238875" y="80963"/>
            <a:ext cx="466725" cy="254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none" lIns="85288" tIns="42643" rIns="85288" bIns="42643" numCol="1" anchor="ctr" anchorCtr="0" compatLnSpc="1">
            <a:prstTxWarp prst="textNoShape">
              <a:avLst/>
            </a:prstTxWarp>
            <a:spAutoFit/>
          </a:bodyPr>
          <a:lstStyle>
            <a:lvl1pPr algn="r" defTabSz="855663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24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63638" y="696913"/>
            <a:ext cx="4465637" cy="3349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5737225"/>
            <a:ext cx="3997325" cy="122078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none" lIns="85288" tIns="42643" rIns="85288" bIns="42643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de-DE" noProof="0" smtClean="0"/>
              <a:t>Klicken Sie, um die Formate des Vorlagentextes zu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  <a:p>
            <a:pPr lvl="4"/>
            <a:r>
              <a:rPr lang="de-DE" noProof="0" smtClean="0"/>
              <a:t>Fünfte Ebene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5388"/>
            <a:ext cx="574675" cy="254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none" lIns="85288" tIns="42643" rIns="85288" bIns="42643" numCol="1" anchor="b" anchorCtr="0" compatLnSpc="1">
            <a:prstTxWarp prst="textNoShape">
              <a:avLst/>
            </a:prstTxWarp>
            <a:spAutoFit/>
          </a:bodyPr>
          <a:lstStyle>
            <a:lvl1pPr algn="l" defTabSz="855663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364288" y="8815388"/>
            <a:ext cx="341312" cy="254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none" lIns="85288" tIns="42643" rIns="85288" bIns="42643" numCol="1" anchor="b" anchorCtr="0" compatLnSpc="1">
            <a:prstTxWarp prst="textNoShape">
              <a:avLst/>
            </a:prstTxWarp>
            <a:spAutoFit/>
          </a:bodyPr>
          <a:lstStyle>
            <a:lvl1pPr algn="r" defTabSz="855663">
              <a:defRPr sz="1100">
                <a:latin typeface="Arial" charset="0"/>
              </a:defRPr>
            </a:lvl1pPr>
          </a:lstStyle>
          <a:p>
            <a:pPr>
              <a:defRPr/>
            </a:pPr>
            <a:fld id="{8A14CF90-BD3D-4E99-B25C-B9B7AE8E3B5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/>
          </p:cNvGrpSpPr>
          <p:nvPr userDrawn="1"/>
        </p:nvGrpSpPr>
        <p:grpSpPr bwMode="auto">
          <a:xfrm>
            <a:off x="0" y="0"/>
            <a:ext cx="296863" cy="6884988"/>
            <a:chOff x="0" y="0"/>
            <a:chExt cx="187" cy="4337"/>
          </a:xfrm>
        </p:grpSpPr>
        <p:sp>
          <p:nvSpPr>
            <p:cNvPr id="3" name="Rectangle 5"/>
            <p:cNvSpPr>
              <a:spLocks noChangeArrowheads="1"/>
            </p:cNvSpPr>
            <p:nvPr userDrawn="1"/>
          </p:nvSpPr>
          <p:spPr bwMode="auto">
            <a:xfrm flipH="1">
              <a:off x="0" y="666"/>
              <a:ext cx="187" cy="3671"/>
            </a:xfrm>
            <a:prstGeom prst="rect">
              <a:avLst/>
            </a:prstGeom>
            <a:solidFill>
              <a:srgbClr val="ADAEB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" name="Rectangle 6"/>
            <p:cNvSpPr>
              <a:spLocks noChangeArrowheads="1"/>
            </p:cNvSpPr>
            <p:nvPr userDrawn="1"/>
          </p:nvSpPr>
          <p:spPr bwMode="auto">
            <a:xfrm flipH="1">
              <a:off x="0" y="0"/>
              <a:ext cx="187" cy="666"/>
            </a:xfrm>
            <a:prstGeom prst="rect">
              <a:avLst/>
            </a:prstGeom>
            <a:solidFill>
              <a:srgbClr val="E2001A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412750" y="6475413"/>
            <a:ext cx="374650" cy="2746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0" hangingPunct="0">
              <a:defRPr/>
            </a:pPr>
            <a:fld id="{DAC0807C-641F-4722-B7B9-9ABE263B3152}" type="slidenum">
              <a:rPr lang="en-US" sz="1200">
                <a:solidFill>
                  <a:schemeClr val="bg2"/>
                </a:solidFill>
              </a:rPr>
              <a:pPr algn="l" eaLnBrk="0" hangingPunct="0">
                <a:defRPr/>
              </a:pPr>
              <a:t>‹Nr.›</a:t>
            </a:fld>
            <a:endParaRPr lang="de-DE" sz="1200">
              <a:solidFill>
                <a:schemeClr val="bg2"/>
              </a:solidFill>
            </a:endParaRPr>
          </a:p>
        </p:txBody>
      </p:sp>
      <p:pic>
        <p:nvPicPr>
          <p:cNvPr id="6" name="Picture 9" descr="CST">
            <a:hlinkClick r:id="rId2" action="ppaction://hlinksldjump"/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8535988" y="6061075"/>
            <a:ext cx="484187" cy="68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13"/>
          <p:cNvSpPr txBox="1">
            <a:spLocks noChangeArrowheads="1"/>
          </p:cNvSpPr>
          <p:nvPr userDrawn="1"/>
        </p:nvSpPr>
        <p:spPr bwMode="auto">
          <a:xfrm>
            <a:off x="412750" y="6475413"/>
            <a:ext cx="374650" cy="2746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0" hangingPunct="0">
              <a:defRPr/>
            </a:pPr>
            <a:fld id="{9CAFCF9E-C93E-4E00-BD0D-5505DDBF44E8}" type="slidenum">
              <a:rPr lang="en-US" sz="1200">
                <a:solidFill>
                  <a:schemeClr val="bg2"/>
                </a:solidFill>
              </a:rPr>
              <a:pPr algn="l" eaLnBrk="0" hangingPunct="0">
                <a:defRPr/>
              </a:pPr>
              <a:t>‹Nr.›</a:t>
            </a:fld>
            <a:endParaRPr lang="de-DE" sz="1200">
              <a:solidFill>
                <a:schemeClr val="bg2"/>
              </a:solidFill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www.cst.com  </a:t>
            </a:r>
            <a:r>
              <a:rPr lang="en-US">
                <a:sym typeface="Symbol" pitchFamily="18" charset="2"/>
              </a:rPr>
              <a:t>|</a:t>
            </a:r>
            <a:r>
              <a:rPr lang="en-US"/>
              <a:t>  </a:t>
            </a:r>
            <a:fld id="{F5D94B32-4AC0-416A-B21B-75625FAA805D}" type="datetime7">
              <a:rPr lang="en-US"/>
              <a:pPr>
                <a:defRPr/>
              </a:pPr>
              <a:t>Jun-09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0225" y="406400"/>
            <a:ext cx="81692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de-DE" smtClean="0"/>
              <a:t>CSTTextFrame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2449513"/>
            <a:ext cx="8129588" cy="17446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de-DE" smtClean="0"/>
              <a:t>level 1</a:t>
            </a:r>
          </a:p>
          <a:p>
            <a:pPr lvl="1"/>
            <a:r>
              <a:rPr lang="de-DE" smtClean="0"/>
              <a:t>level 2</a:t>
            </a:r>
          </a:p>
          <a:p>
            <a:pPr lvl="2"/>
            <a:r>
              <a:rPr lang="de-DE" smtClean="0"/>
              <a:t>level 3</a:t>
            </a:r>
          </a:p>
          <a:p>
            <a:pPr lvl="3"/>
            <a:r>
              <a:rPr lang="de-DE" smtClean="0"/>
              <a:t>level 4</a:t>
            </a:r>
          </a:p>
          <a:p>
            <a:pPr lvl="4"/>
            <a:r>
              <a:rPr lang="de-DE" smtClean="0"/>
              <a:t>level 5</a:t>
            </a:r>
          </a:p>
        </p:txBody>
      </p:sp>
      <p:grpSp>
        <p:nvGrpSpPr>
          <p:cNvPr id="5124" name="Group 4"/>
          <p:cNvGrpSpPr>
            <a:grpSpLocks/>
          </p:cNvGrpSpPr>
          <p:nvPr userDrawn="1"/>
        </p:nvGrpSpPr>
        <p:grpSpPr bwMode="auto">
          <a:xfrm>
            <a:off x="0" y="0"/>
            <a:ext cx="296863" cy="6884988"/>
            <a:chOff x="0" y="0"/>
            <a:chExt cx="187" cy="4337"/>
          </a:xfrm>
        </p:grpSpPr>
        <p:sp>
          <p:nvSpPr>
            <p:cNvPr id="380933" name="Rectangle 5"/>
            <p:cNvSpPr>
              <a:spLocks noChangeArrowheads="1"/>
            </p:cNvSpPr>
            <p:nvPr userDrawn="1"/>
          </p:nvSpPr>
          <p:spPr bwMode="auto">
            <a:xfrm flipH="1">
              <a:off x="0" y="666"/>
              <a:ext cx="187" cy="3671"/>
            </a:xfrm>
            <a:prstGeom prst="rect">
              <a:avLst/>
            </a:prstGeom>
            <a:solidFill>
              <a:srgbClr val="ADAEB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0934" name="Rectangle 6"/>
            <p:cNvSpPr>
              <a:spLocks noChangeArrowheads="1"/>
            </p:cNvSpPr>
            <p:nvPr userDrawn="1"/>
          </p:nvSpPr>
          <p:spPr bwMode="auto">
            <a:xfrm flipH="1">
              <a:off x="0" y="0"/>
              <a:ext cx="187" cy="666"/>
            </a:xfrm>
            <a:prstGeom prst="rect">
              <a:avLst/>
            </a:prstGeom>
            <a:solidFill>
              <a:srgbClr val="E2001A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8093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34038" y="6478588"/>
            <a:ext cx="289083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www.cst.com  </a:t>
            </a:r>
            <a:r>
              <a:rPr lang="en-US">
                <a:sym typeface="Symbol" pitchFamily="18" charset="2"/>
              </a:rPr>
              <a:t>|</a:t>
            </a:r>
            <a:r>
              <a:rPr lang="en-US"/>
              <a:t>  </a:t>
            </a:r>
            <a:fld id="{F5D94B32-4AC0-416A-B21B-75625FAA805D}" type="datetime7">
              <a:rPr lang="en-US"/>
              <a:pPr>
                <a:defRPr/>
              </a:pPr>
              <a:t>Jun-09</a:t>
            </a:fld>
            <a:endParaRPr lang="en-US"/>
          </a:p>
        </p:txBody>
      </p:sp>
      <p:sp>
        <p:nvSpPr>
          <p:cNvPr id="380936" name="Text Box 8"/>
          <p:cNvSpPr txBox="1">
            <a:spLocks noChangeArrowheads="1"/>
          </p:cNvSpPr>
          <p:nvPr/>
        </p:nvSpPr>
        <p:spPr bwMode="auto">
          <a:xfrm>
            <a:off x="412750" y="6475413"/>
            <a:ext cx="506413" cy="2746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0" hangingPunct="0">
              <a:defRPr/>
            </a:pPr>
            <a:fld id="{23283A12-2D2B-4488-AF54-ACA9002F3929}" type="slidenum">
              <a:rPr lang="en-US" sz="1200">
                <a:solidFill>
                  <a:schemeClr val="bg2"/>
                </a:solidFill>
              </a:rPr>
              <a:pPr algn="l" eaLnBrk="0" hangingPunct="0">
                <a:defRPr/>
              </a:pPr>
              <a:t>‹Nr.›</a:t>
            </a:fld>
            <a:endParaRPr lang="de-DE" sz="1200">
              <a:solidFill>
                <a:schemeClr val="bg2"/>
              </a:solidFill>
            </a:endParaRPr>
          </a:p>
        </p:txBody>
      </p:sp>
      <p:pic>
        <p:nvPicPr>
          <p:cNvPr id="5127" name="Picture 9" descr="CST">
            <a:hlinkClick r:id="rId3" action="ppaction://hlinksldjump"/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8535988" y="6061075"/>
            <a:ext cx="484187" cy="68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0941" name="Text Box 13"/>
          <p:cNvSpPr txBox="1">
            <a:spLocks noChangeArrowheads="1"/>
          </p:cNvSpPr>
          <p:nvPr userDrawn="1"/>
        </p:nvSpPr>
        <p:spPr bwMode="auto">
          <a:xfrm>
            <a:off x="412750" y="6475413"/>
            <a:ext cx="506413" cy="2746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0" hangingPunct="0">
              <a:defRPr/>
            </a:pPr>
            <a:fld id="{217526F6-00CC-43BD-A3DD-C2DADDD2FC3F}" type="slidenum">
              <a:rPr lang="en-US" sz="1200">
                <a:solidFill>
                  <a:schemeClr val="bg2"/>
                </a:solidFill>
              </a:rPr>
              <a:pPr algn="l" eaLnBrk="0" hangingPunct="0">
                <a:defRPr/>
              </a:pPr>
              <a:t>‹Nr.›</a:t>
            </a:fld>
            <a:endParaRPr lang="de-DE" sz="1200">
              <a:solidFill>
                <a:schemeClr val="bg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ransition>
    <p:zoom/>
  </p:transition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rebuchet MS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rebuchet MS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rebuchet MS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rebuchet MS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rebuchet MS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rebuchet MS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rebuchet MS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rebuchet MS" pitchFamily="34" charset="0"/>
        </a:defRPr>
      </a:lvl9pPr>
    </p:titleStyle>
    <p:bodyStyle>
      <a:lvl1pPr marL="179388" indent="-179388" algn="l" rtl="0" eaLnBrk="0" fontAlgn="base" hangingPunct="0">
        <a:spcBef>
          <a:spcPct val="30000"/>
        </a:spcBef>
        <a:spcAft>
          <a:spcPct val="0"/>
        </a:spcAft>
        <a:buClr>
          <a:schemeClr val="bg2"/>
        </a:buClr>
        <a:buFont typeface="Wingdings" pitchFamily="2" charset="2"/>
        <a:buChar char="§"/>
        <a:tabLst>
          <a:tab pos="1793875" algn="l"/>
        </a:tabLst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538163" indent="-179388" algn="l" rtl="0" eaLnBrk="0" fontAlgn="base" hangingPunct="0">
        <a:spcBef>
          <a:spcPct val="30000"/>
        </a:spcBef>
        <a:spcAft>
          <a:spcPct val="0"/>
        </a:spcAft>
        <a:buClr>
          <a:schemeClr val="bg2"/>
        </a:buClr>
        <a:buFont typeface="Wingdings" pitchFamily="2" charset="2"/>
        <a:buChar char="§"/>
        <a:tabLst>
          <a:tab pos="1793875" algn="l"/>
        </a:tabLst>
        <a:defRPr sz="2000">
          <a:solidFill>
            <a:schemeClr val="tx1"/>
          </a:solidFill>
          <a:latin typeface="+mn-lt"/>
        </a:defRPr>
      </a:lvl2pPr>
      <a:lvl3pPr marL="893763" indent="-176213" algn="l" rtl="0" eaLnBrk="0" fontAlgn="base" hangingPunct="0">
        <a:spcBef>
          <a:spcPct val="30000"/>
        </a:spcBef>
        <a:spcAft>
          <a:spcPct val="0"/>
        </a:spcAft>
        <a:buClr>
          <a:schemeClr val="bg2"/>
        </a:buClr>
        <a:buFont typeface="Wingdings" pitchFamily="2" charset="2"/>
        <a:buChar char="§"/>
        <a:tabLst>
          <a:tab pos="1793875" algn="l"/>
        </a:tabLst>
        <a:defRPr sz="2400">
          <a:solidFill>
            <a:schemeClr val="tx1"/>
          </a:solidFill>
          <a:latin typeface="+mn-lt"/>
        </a:defRPr>
      </a:lvl3pPr>
      <a:lvl4pPr marL="1254125" indent="-180975" algn="l" rtl="0" eaLnBrk="0" fontAlgn="base" hangingPunct="0">
        <a:spcBef>
          <a:spcPct val="30000"/>
        </a:spcBef>
        <a:spcAft>
          <a:spcPct val="0"/>
        </a:spcAft>
        <a:buClr>
          <a:schemeClr val="bg2"/>
        </a:buClr>
        <a:buFont typeface="Wingdings" pitchFamily="2" charset="2"/>
        <a:buChar char="§"/>
        <a:tabLst>
          <a:tab pos="1793875" algn="l"/>
        </a:tabLst>
        <a:defRPr sz="1600">
          <a:solidFill>
            <a:schemeClr val="tx1"/>
          </a:solidFill>
          <a:latin typeface="+mn-lt"/>
        </a:defRPr>
      </a:lvl4pPr>
      <a:lvl5pPr marL="1614488" indent="-180975" algn="l" rtl="0" eaLnBrk="0" fontAlgn="base" hangingPunct="0">
        <a:spcBef>
          <a:spcPct val="30000"/>
        </a:spcBef>
        <a:spcAft>
          <a:spcPct val="0"/>
        </a:spcAft>
        <a:buClr>
          <a:schemeClr val="bg2"/>
        </a:buClr>
        <a:buFont typeface="Wingdings" pitchFamily="2" charset="2"/>
        <a:buChar char="§"/>
        <a:tabLst>
          <a:tab pos="1793875" algn="l"/>
        </a:tabLst>
        <a:defRPr sz="1400">
          <a:solidFill>
            <a:schemeClr val="tx1"/>
          </a:solidFill>
          <a:latin typeface="+mn-lt"/>
        </a:defRPr>
      </a:lvl5pPr>
      <a:lvl6pPr marL="2071688" indent="-180975" algn="l" rtl="0" fontAlgn="base">
        <a:spcBef>
          <a:spcPct val="30000"/>
        </a:spcBef>
        <a:spcAft>
          <a:spcPct val="0"/>
        </a:spcAft>
        <a:buClr>
          <a:schemeClr val="bg2"/>
        </a:buClr>
        <a:buFont typeface="Wingdings" pitchFamily="2" charset="2"/>
        <a:buChar char="§"/>
        <a:tabLst>
          <a:tab pos="1793875" algn="l"/>
        </a:tabLst>
        <a:defRPr sz="1400">
          <a:solidFill>
            <a:schemeClr val="tx1"/>
          </a:solidFill>
          <a:latin typeface="+mn-lt"/>
        </a:defRPr>
      </a:lvl6pPr>
      <a:lvl7pPr marL="2528888" indent="-180975" algn="l" rtl="0" fontAlgn="base">
        <a:spcBef>
          <a:spcPct val="30000"/>
        </a:spcBef>
        <a:spcAft>
          <a:spcPct val="0"/>
        </a:spcAft>
        <a:buClr>
          <a:schemeClr val="bg2"/>
        </a:buClr>
        <a:buFont typeface="Wingdings" pitchFamily="2" charset="2"/>
        <a:buChar char="§"/>
        <a:tabLst>
          <a:tab pos="1793875" algn="l"/>
        </a:tabLst>
        <a:defRPr sz="1400">
          <a:solidFill>
            <a:schemeClr val="tx1"/>
          </a:solidFill>
          <a:latin typeface="+mn-lt"/>
        </a:defRPr>
      </a:lvl7pPr>
      <a:lvl8pPr marL="2986088" indent="-180975" algn="l" rtl="0" fontAlgn="base">
        <a:spcBef>
          <a:spcPct val="30000"/>
        </a:spcBef>
        <a:spcAft>
          <a:spcPct val="0"/>
        </a:spcAft>
        <a:buClr>
          <a:schemeClr val="bg2"/>
        </a:buClr>
        <a:buFont typeface="Wingdings" pitchFamily="2" charset="2"/>
        <a:buChar char="§"/>
        <a:tabLst>
          <a:tab pos="1793875" algn="l"/>
        </a:tabLst>
        <a:defRPr sz="1400">
          <a:solidFill>
            <a:schemeClr val="tx1"/>
          </a:solidFill>
          <a:latin typeface="+mn-lt"/>
        </a:defRPr>
      </a:lvl8pPr>
      <a:lvl9pPr marL="3443288" indent="-180975" algn="l" rtl="0" fontAlgn="base">
        <a:spcBef>
          <a:spcPct val="30000"/>
        </a:spcBef>
        <a:spcAft>
          <a:spcPct val="0"/>
        </a:spcAft>
        <a:buClr>
          <a:schemeClr val="bg2"/>
        </a:buClr>
        <a:buFont typeface="Wingdings" pitchFamily="2" charset="2"/>
        <a:buChar char="§"/>
        <a:tabLst>
          <a:tab pos="1793875" algn="l"/>
        </a:tabLst>
        <a:defRPr sz="14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8" name="Rectangle 6"/>
          <p:cNvSpPr>
            <a:spLocks noChangeArrowheads="1"/>
          </p:cNvSpPr>
          <p:nvPr/>
        </p:nvSpPr>
        <p:spPr bwMode="auto">
          <a:xfrm>
            <a:off x="609600" y="30163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/>
            <a:r>
              <a:rPr lang="de-DE" sz="3600" b="1"/>
              <a:t>Definition: Reflector Antenna</a:t>
            </a:r>
          </a:p>
        </p:txBody>
      </p:sp>
      <p:sp>
        <p:nvSpPr>
          <p:cNvPr id="274439" name="Rectangle 7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525963"/>
          </a:xfrm>
          <a:noFill/>
        </p:spPr>
        <p:txBody>
          <a:bodyPr anchor="t"/>
          <a:lstStyle/>
          <a:p>
            <a:r>
              <a:rPr lang="en-US" sz="2400" b="0" smtClean="0"/>
              <a:t>The reflector is a metallic surface formed into a paraboloid of revolution and (usually) truncated in a circular rim that forms the diameter of the antenna. </a:t>
            </a:r>
          </a:p>
          <a:p>
            <a:r>
              <a:rPr lang="en-US" sz="2400" b="0" smtClean="0"/>
              <a:t>This paraboloid possesses a distinct focal point by virtue of having the reflective property of parabolas in that a point light source at this focus produces a parallel light beam aligned with the axis of revolution.</a:t>
            </a:r>
          </a:p>
          <a:p>
            <a:pPr>
              <a:buFont typeface="Wingdings" pitchFamily="2" charset="2"/>
              <a:buNone/>
            </a:pPr>
            <a:endParaRPr lang="en-US" sz="2400" b="0" smtClean="0"/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68" name="Rectangle 1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47650"/>
            <a:ext cx="8229600" cy="641350"/>
          </a:xfrm>
          <a:noFill/>
        </p:spPr>
        <p:txBody>
          <a:bodyPr/>
          <a:lstStyle/>
          <a:p>
            <a:r>
              <a:rPr lang="de-DE" smtClean="0"/>
              <a:t>New macro: Reflector Antenna</a:t>
            </a:r>
          </a:p>
        </p:txBody>
      </p:sp>
      <p:sp>
        <p:nvSpPr>
          <p:cNvPr id="275469" name="Rectangle 1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1000" y="1216025"/>
            <a:ext cx="6248400" cy="5418138"/>
          </a:xfrm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de-DE" b="0" dirty="0" smtClean="0"/>
              <a:t>Sets </a:t>
            </a:r>
            <a:r>
              <a:rPr lang="de-DE" b="0" dirty="0" err="1" smtClean="0"/>
              <a:t>the</a:t>
            </a:r>
            <a:r>
              <a:rPr lang="de-DE" b="0" dirty="0" smtClean="0"/>
              <a:t> Units </a:t>
            </a:r>
            <a:r>
              <a:rPr lang="de-DE" b="0" dirty="0" err="1" smtClean="0"/>
              <a:t>to</a:t>
            </a:r>
            <a:r>
              <a:rPr lang="de-DE" b="0" dirty="0" smtClean="0"/>
              <a:t> cm, </a:t>
            </a:r>
            <a:r>
              <a:rPr lang="de-DE" b="0" dirty="0" err="1" smtClean="0"/>
              <a:t>Ghz</a:t>
            </a:r>
            <a:r>
              <a:rPr lang="de-DE" b="0" dirty="0" smtClean="0"/>
              <a:t>, </a:t>
            </a:r>
            <a:r>
              <a:rPr lang="de-DE" b="0" dirty="0" err="1" smtClean="0"/>
              <a:t>ns</a:t>
            </a:r>
            <a:r>
              <a:rPr lang="de-DE" b="0" dirty="0" smtClean="0"/>
              <a:t>.</a:t>
            </a:r>
          </a:p>
          <a:p>
            <a:pPr>
              <a:lnSpc>
                <a:spcPct val="80000"/>
              </a:lnSpc>
            </a:pPr>
            <a:r>
              <a:rPr lang="de-DE" b="0" dirty="0" smtClean="0"/>
              <a:t>Sets </a:t>
            </a:r>
            <a:r>
              <a:rPr lang="de-DE" b="0" dirty="0" err="1" smtClean="0"/>
              <a:t>the</a:t>
            </a:r>
            <a:r>
              <a:rPr lang="de-DE" b="0" dirty="0" smtClean="0"/>
              <a:t> </a:t>
            </a:r>
            <a:r>
              <a:rPr lang="de-DE" b="0" dirty="0" err="1" smtClean="0"/>
              <a:t>Boundary</a:t>
            </a:r>
            <a:r>
              <a:rPr lang="de-DE" b="0" dirty="0" smtClean="0"/>
              <a:t> </a:t>
            </a:r>
            <a:r>
              <a:rPr lang="de-DE" b="0" dirty="0" err="1" smtClean="0"/>
              <a:t>Conditions</a:t>
            </a:r>
            <a:r>
              <a:rPr lang="de-DE" b="0" dirty="0" smtClean="0"/>
              <a:t> </a:t>
            </a:r>
            <a:r>
              <a:rPr lang="de-DE" b="0" dirty="0" err="1" smtClean="0"/>
              <a:t>to</a:t>
            </a:r>
            <a:r>
              <a:rPr lang="de-DE" b="0" dirty="0" smtClean="0"/>
              <a:t> Open Add Space.</a:t>
            </a:r>
          </a:p>
          <a:p>
            <a:pPr>
              <a:lnSpc>
                <a:spcPct val="80000"/>
              </a:lnSpc>
            </a:pPr>
            <a:r>
              <a:rPr lang="de-DE" b="0" dirty="0" err="1" smtClean="0"/>
              <a:t>Creates</a:t>
            </a:r>
            <a:r>
              <a:rPr lang="de-DE" b="0" dirty="0" smtClean="0"/>
              <a:t> a </a:t>
            </a:r>
            <a:r>
              <a:rPr lang="de-DE" b="0" dirty="0" err="1" smtClean="0"/>
              <a:t>parabolic</a:t>
            </a:r>
            <a:r>
              <a:rPr lang="de-DE" b="0" dirty="0" smtClean="0"/>
              <a:t> </a:t>
            </a:r>
            <a:r>
              <a:rPr lang="de-DE" b="0" dirty="0" err="1" smtClean="0"/>
              <a:t>dish</a:t>
            </a:r>
            <a:r>
              <a:rPr lang="de-DE" b="0" dirty="0" smtClean="0"/>
              <a:t> </a:t>
            </a:r>
            <a:r>
              <a:rPr lang="de-DE" b="0" dirty="0" err="1" smtClean="0"/>
              <a:t>with</a:t>
            </a:r>
            <a:r>
              <a:rPr lang="de-DE" b="0" dirty="0" smtClean="0"/>
              <a:t> </a:t>
            </a:r>
            <a:r>
              <a:rPr lang="de-DE" b="0" dirty="0" err="1" smtClean="0"/>
              <a:t>the</a:t>
            </a:r>
            <a:r>
              <a:rPr lang="de-DE" b="0" dirty="0" smtClean="0"/>
              <a:t> </a:t>
            </a:r>
            <a:r>
              <a:rPr lang="de-DE" b="0" dirty="0" err="1" smtClean="0"/>
              <a:t>following</a:t>
            </a:r>
            <a:r>
              <a:rPr lang="de-DE" b="0" dirty="0" smtClean="0"/>
              <a:t> </a:t>
            </a:r>
            <a:r>
              <a:rPr lang="de-DE" b="0" dirty="0" err="1" smtClean="0"/>
              <a:t>parameters</a:t>
            </a:r>
            <a:r>
              <a:rPr lang="de-DE" b="0" dirty="0" smtClean="0"/>
              <a:t>: </a:t>
            </a:r>
          </a:p>
          <a:p>
            <a:pPr lvl="1">
              <a:lnSpc>
                <a:spcPct val="80000"/>
              </a:lnSpc>
            </a:pPr>
            <a:r>
              <a:rPr lang="en-US" b="1" i="1" dirty="0" smtClean="0"/>
              <a:t>D</a:t>
            </a:r>
            <a:r>
              <a:rPr lang="en-US" dirty="0" smtClean="0"/>
              <a:t>. Reflector diameter;</a:t>
            </a:r>
          </a:p>
          <a:p>
            <a:pPr lvl="1">
              <a:lnSpc>
                <a:spcPct val="80000"/>
              </a:lnSpc>
            </a:pPr>
            <a:r>
              <a:rPr lang="en-US" b="1" i="1" dirty="0" smtClean="0"/>
              <a:t>focus</a:t>
            </a:r>
            <a:r>
              <a:rPr lang="en-US" dirty="0" smtClean="0"/>
              <a:t>. Focal length of the reflector;</a:t>
            </a:r>
          </a:p>
          <a:p>
            <a:pPr lvl="1">
              <a:lnSpc>
                <a:spcPct val="80000"/>
              </a:lnSpc>
            </a:pPr>
            <a:r>
              <a:rPr lang="en-US" b="1" i="1" dirty="0" err="1" smtClean="0"/>
              <a:t>th_true</a:t>
            </a:r>
            <a:r>
              <a:rPr lang="en-US" dirty="0" smtClean="0"/>
              <a:t>. If set to 0 the dish has not thickness;</a:t>
            </a:r>
          </a:p>
          <a:p>
            <a:pPr lvl="1">
              <a:lnSpc>
                <a:spcPct val="80000"/>
              </a:lnSpc>
            </a:pPr>
            <a:r>
              <a:rPr lang="en-US" b="1" i="1" dirty="0" err="1" smtClean="0"/>
              <a:t>th_dish</a:t>
            </a:r>
            <a:r>
              <a:rPr lang="en-US" dirty="0" smtClean="0"/>
              <a:t>. Thickness of the reflector.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b="0" dirty="0" smtClean="0"/>
              <a:t>	The focal length “</a:t>
            </a:r>
            <a:r>
              <a:rPr lang="en-US" b="0" i="1" dirty="0" smtClean="0"/>
              <a:t>focus”</a:t>
            </a:r>
            <a:r>
              <a:rPr lang="en-US" b="0" dirty="0" smtClean="0"/>
              <a:t> (distance of focal point from the center of the reflector) is calculated with the following equation: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2400" i="1" dirty="0" smtClean="0"/>
              <a:t>d=D</a:t>
            </a:r>
            <a:r>
              <a:rPr lang="en-US" sz="2400" i="1" baseline="30000" dirty="0" smtClean="0"/>
              <a:t>2</a:t>
            </a:r>
            <a:r>
              <a:rPr lang="en-US" sz="2400" i="1" dirty="0" smtClean="0"/>
              <a:t>/(16*focus)</a:t>
            </a:r>
            <a:r>
              <a:rPr lang="en-US" dirty="0" smtClean="0"/>
              <a:t> 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b="0" dirty="0" smtClean="0"/>
              <a:t>   where </a:t>
            </a:r>
            <a:r>
              <a:rPr lang="en-US" i="1" dirty="0" smtClean="0"/>
              <a:t>d</a:t>
            </a:r>
            <a:r>
              <a:rPr lang="en-US" b="0" dirty="0" smtClean="0"/>
              <a:t> represents the depth of the antenna.</a:t>
            </a:r>
          </a:p>
          <a:p>
            <a:pPr>
              <a:lnSpc>
                <a:spcPct val="80000"/>
              </a:lnSpc>
            </a:pPr>
            <a:r>
              <a:rPr lang="en-US" b="0" dirty="0" smtClean="0"/>
              <a:t>Returns the coordinates of the focal point by means of a </a:t>
            </a:r>
            <a:r>
              <a:rPr lang="en-US" b="0" dirty="0" err="1" smtClean="0"/>
              <a:t>PickPoint</a:t>
            </a:r>
            <a:r>
              <a:rPr lang="en-US" b="0" dirty="0" smtClean="0"/>
              <a:t>.</a:t>
            </a:r>
          </a:p>
          <a:p>
            <a:pPr lvl="1">
              <a:lnSpc>
                <a:spcPct val="80000"/>
              </a:lnSpc>
            </a:pPr>
            <a:endParaRPr lang="de-DE" dirty="0" smtClean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de-DE" b="0" dirty="0" smtClean="0"/>
          </a:p>
        </p:txBody>
      </p:sp>
      <p:grpSp>
        <p:nvGrpSpPr>
          <p:cNvPr id="19" name="Gruppieren 18"/>
          <p:cNvGrpSpPr/>
          <p:nvPr/>
        </p:nvGrpSpPr>
        <p:grpSpPr>
          <a:xfrm>
            <a:off x="6553200" y="2209800"/>
            <a:ext cx="2495550" cy="3400425"/>
            <a:chOff x="6553200" y="2209800"/>
            <a:chExt cx="2495550" cy="3400425"/>
          </a:xfrm>
        </p:grpSpPr>
        <p:pic>
          <p:nvPicPr>
            <p:cNvPr id="275472" name="Picture 16" descr="ScreenHunter_329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553200" y="2209800"/>
              <a:ext cx="2495550" cy="3400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75473" name="Line 17"/>
            <p:cNvSpPr>
              <a:spLocks noChangeShapeType="1"/>
            </p:cNvSpPr>
            <p:nvPr/>
          </p:nvSpPr>
          <p:spPr bwMode="auto">
            <a:xfrm>
              <a:off x="7010400" y="2438400"/>
              <a:ext cx="0" cy="2971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5474" name="Line 18"/>
            <p:cNvSpPr>
              <a:spLocks noChangeShapeType="1"/>
            </p:cNvSpPr>
            <p:nvPr/>
          </p:nvSpPr>
          <p:spPr bwMode="auto">
            <a:xfrm>
              <a:off x="6889750" y="2438400"/>
              <a:ext cx="228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5475" name="Line 19"/>
            <p:cNvSpPr>
              <a:spLocks noChangeShapeType="1"/>
            </p:cNvSpPr>
            <p:nvPr/>
          </p:nvSpPr>
          <p:spPr bwMode="auto">
            <a:xfrm>
              <a:off x="6889750" y="5410200"/>
              <a:ext cx="228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5476" name="Text Box 20"/>
            <p:cNvSpPr txBox="1">
              <a:spLocks noChangeArrowheads="1"/>
            </p:cNvSpPr>
            <p:nvPr/>
          </p:nvSpPr>
          <p:spPr bwMode="auto">
            <a:xfrm>
              <a:off x="6613358" y="3717758"/>
              <a:ext cx="45720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sz="2800" b="1" dirty="0">
                  <a:latin typeface="+mn-lt"/>
                </a:rPr>
                <a:t>D</a:t>
              </a:r>
            </a:p>
          </p:txBody>
        </p:sp>
        <p:sp>
          <p:nvSpPr>
            <p:cNvPr id="275477" name="Line 21"/>
            <p:cNvSpPr>
              <a:spLocks noChangeShapeType="1"/>
            </p:cNvSpPr>
            <p:nvPr/>
          </p:nvSpPr>
          <p:spPr bwMode="auto">
            <a:xfrm>
              <a:off x="7086600" y="4038600"/>
              <a:ext cx="1524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5478" name="Line 22"/>
            <p:cNvSpPr>
              <a:spLocks noChangeShapeType="1"/>
            </p:cNvSpPr>
            <p:nvPr/>
          </p:nvSpPr>
          <p:spPr bwMode="auto">
            <a:xfrm>
              <a:off x="8618538" y="3962400"/>
              <a:ext cx="0" cy="152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5479" name="Line 23"/>
            <p:cNvSpPr>
              <a:spLocks noChangeShapeType="1"/>
            </p:cNvSpPr>
            <p:nvPr/>
          </p:nvSpPr>
          <p:spPr bwMode="auto">
            <a:xfrm>
              <a:off x="7086600" y="3962400"/>
              <a:ext cx="0" cy="152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5480" name="Text Box 24"/>
            <p:cNvSpPr txBox="1">
              <a:spLocks noChangeArrowheads="1"/>
            </p:cNvSpPr>
            <p:nvPr/>
          </p:nvSpPr>
          <p:spPr bwMode="auto">
            <a:xfrm>
              <a:off x="7523747" y="4010526"/>
              <a:ext cx="114300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sz="2800" b="1" dirty="0">
                  <a:latin typeface="+mn-lt"/>
                </a:rPr>
                <a:t>focus</a:t>
              </a:r>
            </a:p>
          </p:txBody>
        </p:sp>
        <p:sp>
          <p:nvSpPr>
            <p:cNvPr id="275482" name="Line 26"/>
            <p:cNvSpPr>
              <a:spLocks noChangeShapeType="1"/>
            </p:cNvSpPr>
            <p:nvPr/>
          </p:nvSpPr>
          <p:spPr bwMode="auto">
            <a:xfrm>
              <a:off x="7391400" y="3657600"/>
              <a:ext cx="0" cy="152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5483" name="Line 27"/>
            <p:cNvSpPr>
              <a:spLocks noChangeShapeType="1"/>
            </p:cNvSpPr>
            <p:nvPr/>
          </p:nvSpPr>
          <p:spPr bwMode="auto">
            <a:xfrm>
              <a:off x="7086600" y="3657600"/>
              <a:ext cx="0" cy="152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CST_MASTER_TEMPLATE">
  <a:themeElements>
    <a:clrScheme name="CST_MASTER_TEMPLATE 1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DDDDDD"/>
      </a:accent1>
      <a:accent2>
        <a:srgbClr val="333399"/>
      </a:accent2>
      <a:accent3>
        <a:srgbClr val="FFFFFF"/>
      </a:accent3>
      <a:accent4>
        <a:srgbClr val="000000"/>
      </a:accent4>
      <a:accent5>
        <a:srgbClr val="EBEBEB"/>
      </a:accent5>
      <a:accent6>
        <a:srgbClr val="2D2D8A"/>
      </a:accent6>
      <a:hlink>
        <a:srgbClr val="A50021"/>
      </a:hlink>
      <a:folHlink>
        <a:srgbClr val="336600"/>
      </a:folHlink>
    </a:clrScheme>
    <a:fontScheme name="CST_MASTER_TEMPLATE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/>
        </a:solidFill>
        <a:ln w="190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/>
        </a:solidFill>
        <a:ln w="190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</a:defRPr>
        </a:defPPr>
      </a:lstStyle>
    </a:lnDef>
  </a:objectDefaults>
  <a:extraClrSchemeLst>
    <a:extraClrScheme>
      <a:clrScheme name="CST_MASTER_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T_MASTER_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T_MASTER_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T_MASTER_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T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T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T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T_MASTER_TEMPLATE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CC00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8A8AE7"/>
        </a:accent6>
        <a:hlink>
          <a:srgbClr val="FF7C80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T_MASTER_TEMPLATE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CC00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E7"/>
        </a:accent6>
        <a:hlink>
          <a:srgbClr val="FF7C80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T_MASTER_TEMPLATE 10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BE600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F3F0AA"/>
        </a:accent5>
        <a:accent6>
          <a:srgbClr val="5C8AE7"/>
        </a:accent6>
        <a:hlink>
          <a:srgbClr val="FF7C80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T_MASTER_TEMPLATE 11">
        <a:dk1>
          <a:srgbClr val="000000"/>
        </a:dk1>
        <a:lt1>
          <a:srgbClr val="EAEAEA"/>
        </a:lt1>
        <a:dk2>
          <a:srgbClr val="000000"/>
        </a:dk2>
        <a:lt2>
          <a:srgbClr val="808080"/>
        </a:lt2>
        <a:accent1>
          <a:srgbClr val="DDDDDD"/>
        </a:accent1>
        <a:accent2>
          <a:srgbClr val="6699FF"/>
        </a:accent2>
        <a:accent3>
          <a:srgbClr val="F3F3F3"/>
        </a:accent3>
        <a:accent4>
          <a:srgbClr val="000000"/>
        </a:accent4>
        <a:accent5>
          <a:srgbClr val="EBEBEB"/>
        </a:accent5>
        <a:accent6>
          <a:srgbClr val="5C8AE7"/>
        </a:accent6>
        <a:hlink>
          <a:srgbClr val="FF7C80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T_MASTER_TEMPLATE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DDDDDD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5C8AE7"/>
        </a:accent6>
        <a:hlink>
          <a:srgbClr val="FF7C80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T_MASTER_TEMPLAT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DDDDDD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8A"/>
        </a:accent6>
        <a:hlink>
          <a:srgbClr val="A50021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T_MASTER_TEMPLATE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DDDDDD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8A"/>
        </a:accent6>
        <a:hlink>
          <a:srgbClr val="A50021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6435</TotalTime>
  <Words>137</Words>
  <Application>Microsoft Office PowerPoint</Application>
  <PresentationFormat>Bildschirmpräsentation (4:3)</PresentationFormat>
  <Paragraphs>17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Trebuchet MS</vt:lpstr>
      <vt:lpstr>Arial</vt:lpstr>
      <vt:lpstr>Wingdings</vt:lpstr>
      <vt:lpstr>Times New Roman</vt:lpstr>
      <vt:lpstr>Symbol</vt:lpstr>
      <vt:lpstr>CST_MASTER_TEMPLATE</vt:lpstr>
      <vt:lpstr>Folie 1</vt:lpstr>
      <vt:lpstr>New macro: Reflector Antenna</vt:lpstr>
    </vt:vector>
  </TitlesOfParts>
  <Company>CST GmbH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Administrator</dc:creator>
  <cp:lastModifiedBy>DavideTallini</cp:lastModifiedBy>
  <cp:revision>920</cp:revision>
  <cp:lastPrinted>2002-03-12T09:26:22Z</cp:lastPrinted>
  <dcterms:created xsi:type="dcterms:W3CDTF">2002-02-09T12:20:32Z</dcterms:created>
  <dcterms:modified xsi:type="dcterms:W3CDTF">2009-06-30T09:58:10Z</dcterms:modified>
</cp:coreProperties>
</file>